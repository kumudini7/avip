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Invoice Automation Discovery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Rule-based analysis produced by AVIP when no provider key is configured.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The goal is to identify bottlenecks, evaluate manual data entry touchpoints, and assess the technical feasibility and ROI of implementing automated invoice processing - Workflow</a:t>
            </a:r>
          </a:p>
          <a:p>
            <a:pPr/>
            <a:r>
              <a:rPr sz="2000"/>
              <a:t>Accounts Payable Invoice Processing - Workflow</a:t>
            </a:r>
          </a:p>
          <a:p>
            <a:pPr/>
            <a:r>
              <a:rPr sz="2000"/>
              <a:t>Accounts Payable Invoice Processing Workflow - Workflow</a:t>
            </a:r>
          </a:p>
          <a:p>
            <a:pPr/>
            <a:r>
              <a:rPr sz="2000"/>
              <a:t>This document describes the current-state invoice processing workflow for Acme Manufacturing - Workflow</a:t>
            </a:r>
          </a:p>
          <a:p>
            <a:pPr/>
            <a:r>
              <a:rPr sz="2000"/>
              <a:t>Acme Manufacturing receives approximately 2,500 supplier invoices per month from more than 180 vendors - Workflow</a:t>
            </a:r>
          </a:p>
          <a:p>
            <a:pPr/>
            <a:r>
              <a:rPr sz="2000"/>
              <a:t>Email (70%) - Workflow</a:t>
            </a:r>
          </a:p>
          <a:p>
            <a:pPr/>
            <a:r>
              <a:rPr sz="2000"/>
              <a:t>Finance Approvers - Human Only</a:t>
            </a:r>
          </a:p>
          <a:p>
            <a:pPr/>
            <a:r>
              <a:rPr sz="2000"/>
              <a:t>Step 1 – Invoice Receipt - Workflow</a:t>
            </a:r>
          </a:p>
          <a:p>
            <a:pPr/>
            <a:r>
              <a:rPr sz="2000"/>
              <a:t>Download invoice attachments - RPA</a:t>
            </a:r>
          </a:p>
          <a:p>
            <a:pPr/>
            <a:r>
              <a:rPr sz="2000"/>
              <a:t>Manual downloading - RPA</a:t>
            </a:r>
          </a:p>
          <a:p>
            <a:pPr/>
            <a:r>
              <a:rPr sz="2000"/>
              <a:t>Step 2 – Invoice Registration - Workflow</a:t>
            </a:r>
          </a:p>
          <a:p>
            <a:pPr/>
            <a:r>
              <a:rPr sz="2000"/>
              <a:t>Step 3 – PO Matching -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RPA</a:t>
            </a:r>
          </a:p>
          <a:p>
            <a:pPr/>
            <a:r>
              <a:rPr sz="2000"/>
              <a:t>OCR</a:t>
            </a:r>
          </a:p>
          <a:p>
            <a:pPr/>
            <a:r>
              <a:rPr sz="2000"/>
              <a:t>LLM</a:t>
            </a:r>
          </a:p>
          <a:p>
            <a:pPr/>
            <a:r>
              <a:rPr sz="2000"/>
              <a:t>Workflow</a:t>
            </a:r>
          </a:p>
          <a:p>
            <a:pPr/>
            <a:r>
              <a:rPr sz="2000"/>
              <a:t>Human Approval</a:t>
            </a:r>
          </a:p>
          <a:p>
            <a:pPr/>
            <a:r>
              <a:rPr sz="2000"/>
              <a:t>UiPath</a:t>
            </a:r>
          </a:p>
          <a:p>
            <a:pPr/>
            <a:r>
              <a:rPr sz="2000"/>
              <a:t>Azure OpenAI / OpenAI / Gemini</a:t>
            </a:r>
          </a:p>
          <a:p>
            <a:pPr/>
            <a:r>
              <a:rPr sz="2000"/>
              <a:t>Document Processing</a:t>
            </a:r>
          </a:p>
          <a:p>
            <a:pPr/>
            <a:r>
              <a:rPr sz="2000"/>
              <a:t>Local File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Operational risk from manual dependency</a:t>
            </a:r>
          </a:p>
          <a:p>
            <a:pPr/>
            <a:r>
              <a:rPr sz="2000"/>
              <a:t>Compliance risk if approvals are bypassed</a:t>
            </a:r>
          </a:p>
          <a:p>
            <a:pPr/>
            <a:r>
              <a:rPr sz="2000"/>
              <a:t>Security risk for document handling</a:t>
            </a:r>
          </a:p>
          <a:p>
            <a:pPr/>
            <a:r>
              <a:rPr sz="2000"/>
              <a:t>Model hallucination risk on ambiguous inputs</a:t>
            </a:r>
          </a:p>
          <a:p>
            <a:pPr/>
            <a:r>
              <a:rPr sz="2000"/>
              <a:t>Business continuity risk if systems are unavailable</a:t>
            </a:r>
          </a:p>
          <a:p>
            <a:pPr/>
            <a:r>
              <a:rPr sz="2000"/>
              <a:t>Human approval for high-value cases</a:t>
            </a:r>
          </a:p>
          <a:p>
            <a:pPr/>
            <a:r>
              <a:rPr sz="2000"/>
              <a:t>Audit logs and traceability</a:t>
            </a:r>
          </a:p>
          <a:p>
            <a:pPr/>
            <a:r>
              <a:rPr sz="2000"/>
              <a:t>Confidence thresholds for AI outputs</a:t>
            </a:r>
          </a:p>
          <a:p>
            <a:pPr/>
            <a:r>
              <a:rPr sz="2000"/>
              <a:t>Secure local file storage with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Hours Saved: 560</a:t>
            </a:r>
          </a:p>
          <a:p>
            <a:pPr/>
            <a:r>
              <a:rPr sz="2000"/>
              <a:t>Risk Reduction: 10</a:t>
            </a:r>
          </a:p>
          <a:p>
            <a:pPr/>
            <a:r>
              <a:rPr sz="2000"/>
              <a:t>Revenue Protection: INR 24 Lakhs</a:t>
            </a:r>
          </a:p>
          <a:p>
            <a:pPr/>
            <a:r>
              <a:rPr sz="2000"/>
              <a:t>Quality Improvement: 40</a:t>
            </a:r>
          </a:p>
          <a:p>
            <a:pPr/>
            <a:r>
              <a:rPr sz="2000"/>
              <a:t>Accuracy Improvement: 15</a:t>
            </a:r>
          </a:p>
          <a:p>
            <a:pPr/>
            <a:r>
              <a:rPr sz="2000"/>
              <a:t>Customer Satisfaction: 18</a:t>
            </a:r>
          </a:p>
          <a:p>
            <a:pPr/>
            <a:r>
              <a:rPr sz="2000"/>
              <a:t>Compliance Improvement: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